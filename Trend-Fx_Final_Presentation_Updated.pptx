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7" d="100"/>
          <a:sy n="77" d="100"/>
        </p:scale>
        <p:origin x="883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ero_for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11480"/>
            <a:ext cx="5212080" cy="293179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82296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Trend-Fx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AAC6F6"/>
                </a:solidFill>
              </a:rPr>
              <a:t>Final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FE8F7"/>
                </a:solidFill>
              </a:rPr>
              <a:t>PSD final review deck covering problem, implementation, sprint journey, and future scope.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45720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dirty="0">
                <a:solidFill>
                  <a:srgbClr val="71E2D0"/>
                </a:solidFill>
              </a:rPr>
              <a:t>Team: Vignesh</a:t>
            </a:r>
            <a:r>
              <a:rPr lang="en-US" sz="1700" b="1" dirty="0">
                <a:solidFill>
                  <a:srgbClr val="71E2D0"/>
                </a:solidFill>
              </a:rPr>
              <a:t> Venkatesan</a:t>
            </a:r>
            <a:r>
              <a:rPr sz="1700" b="1" dirty="0">
                <a:solidFill>
                  <a:srgbClr val="71E2D0"/>
                </a:solidFill>
              </a:rPr>
              <a:t> </a:t>
            </a:r>
            <a:r>
              <a:rPr lang="en-US" sz="1700" b="1" dirty="0">
                <a:solidFill>
                  <a:srgbClr val="71E2D0"/>
                </a:solidFill>
              </a:rPr>
              <a:t>&amp;</a:t>
            </a:r>
            <a:r>
              <a:rPr sz="1700" b="1" dirty="0">
                <a:solidFill>
                  <a:srgbClr val="71E2D0"/>
                </a:solidFill>
              </a:rPr>
              <a:t> Preet</a:t>
            </a:r>
            <a:r>
              <a:rPr lang="en-US" sz="1700" b="1" dirty="0">
                <a:solidFill>
                  <a:srgbClr val="71E2D0"/>
                </a:solidFill>
              </a:rPr>
              <a:t> Soni</a:t>
            </a:r>
            <a:endParaRPr sz="1700" b="1" dirty="0">
              <a:solidFill>
                <a:srgbClr val="71E2D0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3337559"/>
            <a:ext cx="5120640" cy="1726053"/>
          </a:xfrm>
          <a:prstGeom prst="roundRect">
            <a:avLst/>
          </a:prstGeom>
          <a:solidFill>
            <a:srgbClr val="142A52"/>
          </a:solidFill>
          <a:ln>
            <a:solidFill>
              <a:srgbClr val="D4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344271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dirty="0">
                <a:solidFill>
                  <a:srgbClr val="FFFFFF"/>
                </a:solidFill>
              </a:rPr>
              <a:t>Presentation Timeline (15-18 minutes)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743976"/>
            <a:ext cx="4572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dirty="0">
                <a:solidFill>
                  <a:srgbClr val="E8EFFB"/>
                </a:solidFill>
              </a:rPr>
              <a:t>Introduction / Idea</a:t>
            </a:r>
          </a:p>
          <a:p>
            <a:pPr>
              <a:spcAft>
                <a:spcPts val="600"/>
              </a:spcAft>
            </a:pPr>
            <a:r>
              <a:rPr sz="1500" dirty="0">
                <a:solidFill>
                  <a:srgbClr val="E8EFFB"/>
                </a:solidFill>
              </a:rPr>
              <a:t>Problem Statement</a:t>
            </a:r>
          </a:p>
          <a:p>
            <a:pPr>
              <a:spcAft>
                <a:spcPts val="600"/>
              </a:spcAft>
            </a:pPr>
            <a:r>
              <a:rPr sz="1500" dirty="0">
                <a:solidFill>
                  <a:srgbClr val="E8EFFB"/>
                </a:solidFill>
              </a:rPr>
              <a:t>Solution + Implementation</a:t>
            </a:r>
          </a:p>
          <a:p>
            <a:pPr>
              <a:spcAft>
                <a:spcPts val="600"/>
              </a:spcAft>
            </a:pPr>
            <a:r>
              <a:rPr sz="1500" dirty="0">
                <a:solidFill>
                  <a:srgbClr val="E8EFFB"/>
                </a:solidFill>
              </a:rPr>
              <a:t>Sprint Reviews, Challenges, Future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8758E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6217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C1A3A"/>
                </a:solidFill>
              </a:rPr>
              <a:t>2.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8758E"/>
                </a:solidFill>
              </a:rPr>
              <a:t>Understanding forex signals is difficult for beginners because data is fragmented and fast-moving.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5440680" cy="4526280"/>
          </a:xfrm>
          <a:prstGeom prst="roundRect">
            <a:avLst/>
          </a:prstGeom>
          <a:solidFill>
            <a:srgbClr val="F5F7FB"/>
          </a:solidFill>
          <a:ln>
            <a:solidFill>
              <a:srgbClr val="D4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C1A3A"/>
                </a:solidFill>
              </a:rPr>
              <a:t>Core Challenges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19456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dirty="0">
                <a:solidFill>
                  <a:srgbClr val="29334D"/>
                </a:solidFill>
              </a:rPr>
              <a:t>Forex markets move quickly and are difficult to track manually.</a:t>
            </a:r>
          </a:p>
          <a:p>
            <a:pPr>
              <a:spcAft>
                <a:spcPts val="600"/>
              </a:spcAft>
            </a:pPr>
            <a:r>
              <a:rPr sz="1700" dirty="0">
                <a:solidFill>
                  <a:srgbClr val="29334D"/>
                </a:solidFill>
              </a:rPr>
              <a:t>Beginners often switch between many tools for price, indicators, and news.</a:t>
            </a:r>
          </a:p>
          <a:p>
            <a:pPr>
              <a:spcAft>
                <a:spcPts val="600"/>
              </a:spcAft>
            </a:pPr>
            <a:r>
              <a:rPr sz="1700" dirty="0">
                <a:solidFill>
                  <a:srgbClr val="29334D"/>
                </a:solidFill>
              </a:rPr>
              <a:t>Technical indicators like RSI and MACD are useful, but not easy to interpret without a unified interface.</a:t>
            </a:r>
          </a:p>
          <a:p>
            <a:pPr>
              <a:spcAft>
                <a:spcPts val="600"/>
              </a:spcAft>
            </a:pPr>
            <a:r>
              <a:rPr sz="1700" dirty="0">
                <a:solidFill>
                  <a:srgbClr val="29334D"/>
                </a:solidFill>
              </a:rPr>
              <a:t>Many learners need a guided dashboard instead of raw market feeds.</a:t>
            </a:r>
          </a:p>
        </p:txBody>
      </p:sp>
      <p:pic>
        <p:nvPicPr>
          <p:cNvPr id="7" name="Picture 6" descr="hero_for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783080"/>
            <a:ext cx="4754880" cy="26746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37960" y="507492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29334D"/>
                </a:solidFill>
              </a:rPr>
              <a:t>The project addresses complexity, fragmentation, and learning barriers.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008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8758E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6217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C1A3A"/>
                </a:solidFill>
              </a:rPr>
              <a:t>3. Idea /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8758E"/>
                </a:solidFill>
              </a:rPr>
              <a:t>Build a simplified forex dashboard that combines authentication, market data, and indicators in one product.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1463040"/>
          </a:xfrm>
          <a:prstGeom prst="roundRect">
            <a:avLst/>
          </a:prstGeom>
          <a:solidFill>
            <a:srgbClr val="ECF4FF"/>
          </a:solidFill>
          <a:ln>
            <a:solidFill>
              <a:srgbClr val="D4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32688" y="1993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C1A3A"/>
                </a:solidFill>
              </a:rPr>
              <a:t>Simplify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359152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9334D"/>
                </a:solidFill>
              </a:rPr>
              <a:t>Bring live prices, charts, and indicators into a single interface.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828800"/>
            <a:ext cx="5120640" cy="1463040"/>
          </a:xfrm>
          <a:prstGeom prst="roundRect">
            <a:avLst/>
          </a:prstGeom>
          <a:solidFill>
            <a:srgbClr val="ECF8F1"/>
          </a:solidFill>
          <a:ln>
            <a:solidFill>
              <a:srgbClr val="D4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64807" y="1993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C1A3A"/>
                </a:solidFill>
              </a:rPr>
              <a:t>Support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64807" y="2359152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9334D"/>
                </a:solidFill>
              </a:rPr>
              <a:t>Help students understand how RSI, MACD, and basic signals relate to price action.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94760"/>
            <a:ext cx="5120640" cy="1463040"/>
          </a:xfrm>
          <a:prstGeom prst="roundRect">
            <a:avLst/>
          </a:prstGeom>
          <a:solidFill>
            <a:srgbClr val="FFF7E7"/>
          </a:solidFill>
          <a:ln>
            <a:solidFill>
              <a:srgbClr val="D4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39593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C1A3A"/>
                </a:solidFill>
              </a:rPr>
              <a:t>Provide secure 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325112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9334D"/>
                </a:solidFill>
              </a:rPr>
              <a:t>Offer register, login, logout, and password-reset flows for user accounts.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3794760"/>
            <a:ext cx="5120640" cy="1463040"/>
          </a:xfrm>
          <a:prstGeom prst="roundRect">
            <a:avLst/>
          </a:prstGeom>
          <a:solidFill>
            <a:srgbClr val="F6F1FF"/>
          </a:solidFill>
          <a:ln>
            <a:solidFill>
              <a:srgbClr val="D4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64807" y="39593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C1A3A"/>
                </a:solidFill>
              </a:rPr>
              <a:t>Show full-stack delivery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7" y="4325112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9334D"/>
                </a:solidFill>
              </a:rPr>
              <a:t>Demonstrate frontend, backend, database, API integration, and team workflow.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008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8758E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6217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C1A3A"/>
                </a:solidFill>
              </a:rPr>
              <a:t>4. System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8758E"/>
                </a:solidFill>
              </a:rPr>
              <a:t>High-level flow from user interaction to frontend, backend, and external market data APIs.</a:t>
            </a:r>
          </a:p>
        </p:txBody>
      </p:sp>
      <p:pic>
        <p:nvPicPr>
          <p:cNvPr id="4" name="Picture 3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1"/>
            <a:ext cx="10881360" cy="45004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15600" y="64008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8758E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6217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C1A3A"/>
                </a:solidFill>
              </a:rPr>
              <a:t>5.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8758E"/>
                </a:solidFill>
              </a:rPr>
              <a:t>Planned and implemented technologies used across the project.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560320" cy="3931920"/>
          </a:xfrm>
          <a:prstGeom prst="roundRect">
            <a:avLst/>
          </a:prstGeom>
          <a:solidFill>
            <a:srgbClr val="ECF4FF"/>
          </a:solidFill>
          <a:ln>
            <a:solidFill>
              <a:srgbClr val="D4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112" y="20116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C1A3A"/>
                </a:solidFill>
              </a:rP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423160"/>
            <a:ext cx="2148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9334D"/>
                </a:solidFill>
              </a:rPr>
              <a:t>React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9334D"/>
                </a:solidFill>
              </a:rPr>
              <a:t>Vite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9334D"/>
                </a:solidFill>
              </a:rPr>
              <a:t>React Router DOM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9334D"/>
                </a:solidFill>
              </a:rPr>
              <a:t>Recharts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828800"/>
            <a:ext cx="2560320" cy="3931920"/>
          </a:xfrm>
          <a:prstGeom prst="roundRect">
            <a:avLst/>
          </a:prstGeom>
          <a:solidFill>
            <a:srgbClr val="ECF8F1"/>
          </a:solidFill>
          <a:ln>
            <a:solidFill>
              <a:srgbClr val="D4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730752" y="20116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C1A3A"/>
                </a:solidFill>
              </a:rP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2423160"/>
            <a:ext cx="2148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9334D"/>
                </a:solidFill>
              </a:rPr>
              <a:t>FastAPI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9334D"/>
                </a:solidFill>
              </a:rPr>
              <a:t>Uvicorn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9334D"/>
                </a:solidFill>
              </a:rPr>
              <a:t>SQLAlchemy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9334D"/>
                </a:solidFill>
              </a:rPr>
              <a:t>JWT auth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828800"/>
            <a:ext cx="2560320" cy="3931920"/>
          </a:xfrm>
          <a:prstGeom prst="roundRect">
            <a:avLst/>
          </a:prstGeom>
          <a:solidFill>
            <a:srgbClr val="FFF7E7"/>
          </a:solidFill>
          <a:ln>
            <a:solidFill>
              <a:srgbClr val="D4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65392" y="20116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C1A3A"/>
                </a:solidFill>
              </a:rPr>
              <a:t>Database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423160"/>
            <a:ext cx="2148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9334D"/>
                </a:solidFill>
              </a:rPr>
              <a:t>SQLite test.db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9334D"/>
                </a:solidFill>
              </a:rPr>
              <a:t>SQL model design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9334D"/>
                </a:solidFill>
              </a:rPr>
              <a:t>Sprint plan referenced MySQL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1828800"/>
            <a:ext cx="2560320" cy="3931920"/>
          </a:xfrm>
          <a:prstGeom prst="roundRect">
            <a:avLst/>
          </a:prstGeom>
          <a:solidFill>
            <a:srgbClr val="F6F1FF"/>
          </a:solidFill>
          <a:ln>
            <a:solidFill>
              <a:srgbClr val="D4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400032" y="20116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C1A3A"/>
                </a:solidFill>
              </a:rPr>
              <a:t>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600" y="2423160"/>
            <a:ext cx="2148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9334D"/>
                </a:solidFill>
              </a:rPr>
              <a:t>Git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9334D"/>
                </a:solidFill>
              </a:rPr>
              <a:t>GitHub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9334D"/>
                </a:solidFill>
              </a:rPr>
              <a:t>Branches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9334D"/>
                </a:solidFill>
              </a:rPr>
              <a:t>Pull Requests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9334D"/>
                </a:solidFill>
              </a:rPr>
              <a:t>PowerShell / VS 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008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8758E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6217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C1A3A"/>
                </a:solidFill>
              </a:rPr>
              <a:t>6.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8758E"/>
                </a:solidFill>
              </a:rPr>
              <a:t>How the app pulls data, computes indicators, and presents charts to users.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3657600" cy="4480560"/>
          </a:xfrm>
          <a:prstGeom prst="roundRect">
            <a:avLst/>
          </a:prstGeom>
          <a:solidFill>
            <a:srgbClr val="F5F7FB"/>
          </a:solidFill>
          <a:ln>
            <a:solidFill>
              <a:srgbClr val="D4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C1A3A"/>
                </a:solidFill>
              </a:rPr>
              <a:t>Implementation Highlights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286000"/>
            <a:ext cx="31089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29334D"/>
                </a:solidFill>
              </a:rPr>
              <a:t>FastAPI backend exposes auth and market endpoints.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9334D"/>
                </a:solidFill>
              </a:rPr>
              <a:t>Twelve Data API provides live forex values and time-series data.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9334D"/>
                </a:solidFill>
              </a:rPr>
              <a:t>RSI and MACD are calculated in backend logic before being sent to the dashboard.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9334D"/>
                </a:solidFill>
              </a:rPr>
              <a:t>Recharts renders line, area, and composed visualizations in the React UI.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09160" y="1691640"/>
            <a:ext cx="6400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4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83480" y="1901952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C1A3A"/>
                </a:solidFill>
              </a:rPr>
              <a:t>Indicator 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2331720"/>
            <a:ext cx="5349240" cy="658368"/>
          </a:xfrm>
          <a:prstGeom prst="roundRect">
            <a:avLst/>
          </a:prstGeom>
          <a:solidFill>
            <a:srgbClr val="F8FAFD"/>
          </a:solidFill>
          <a:ln>
            <a:solidFill>
              <a:srgbClr val="D4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212080" y="2414015"/>
            <a:ext cx="438912" cy="438912"/>
          </a:xfrm>
          <a:prstGeom prst="ellipse">
            <a:avLst/>
          </a:prstGeom>
          <a:solidFill>
            <a:srgbClr val="60A0FF"/>
          </a:solidFill>
          <a:ln>
            <a:solidFill>
              <a:srgbClr val="60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30952" y="2459736"/>
            <a:ext cx="18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2468879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9334D"/>
                </a:solidFill>
              </a:rPr>
              <a:t>Fetch forex candles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3154679"/>
            <a:ext cx="5349240" cy="658368"/>
          </a:xfrm>
          <a:prstGeom prst="roundRect">
            <a:avLst/>
          </a:prstGeom>
          <a:solidFill>
            <a:srgbClr val="F8FAFD"/>
          </a:solidFill>
          <a:ln>
            <a:solidFill>
              <a:srgbClr val="D4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212080" y="3236975"/>
            <a:ext cx="438912" cy="438912"/>
          </a:xfrm>
          <a:prstGeom prst="ellipse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30952" y="3282696"/>
            <a:ext cx="18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3291839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9334D"/>
                </a:solidFill>
              </a:rPr>
              <a:t>Calculate RSI / MACD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977639"/>
            <a:ext cx="5349240" cy="658368"/>
          </a:xfrm>
          <a:prstGeom prst="roundRect">
            <a:avLst/>
          </a:prstGeom>
          <a:solidFill>
            <a:srgbClr val="F8FAFD"/>
          </a:solidFill>
          <a:ln>
            <a:solidFill>
              <a:srgbClr val="D4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212080" y="4059935"/>
            <a:ext cx="438912" cy="438912"/>
          </a:xfrm>
          <a:prstGeom prst="ellipse">
            <a:avLst/>
          </a:prstGeom>
          <a:solidFill>
            <a:srgbClr val="F0B53E"/>
          </a:solidFill>
          <a:ln>
            <a:solidFill>
              <a:srgbClr val="F0B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30952" y="4105655"/>
            <a:ext cx="18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4114800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9334D"/>
                </a:solidFill>
              </a:rPr>
              <a:t>Return structured API payload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0" y="4800600"/>
            <a:ext cx="5349240" cy="658368"/>
          </a:xfrm>
          <a:prstGeom prst="roundRect">
            <a:avLst/>
          </a:prstGeom>
          <a:solidFill>
            <a:srgbClr val="F8FAFD"/>
          </a:solidFill>
          <a:ln>
            <a:solidFill>
              <a:srgbClr val="D4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212080" y="4882896"/>
            <a:ext cx="438912" cy="438912"/>
          </a:xfrm>
          <a:prstGeom prst="ellipse">
            <a:avLst/>
          </a:prstGeom>
          <a:solidFill>
            <a:srgbClr val="B579FF"/>
          </a:solidFill>
          <a:ln>
            <a:solidFill>
              <a:srgbClr val="B57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30952" y="4928616"/>
            <a:ext cx="18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4937760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9334D"/>
                </a:solidFill>
              </a:rPr>
              <a:t>Render dashboard charts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008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8758E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6217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C1A3A"/>
                </a:solidFill>
              </a:rPr>
              <a:t>7. Dashboard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8758E"/>
                </a:solidFill>
              </a:rPr>
              <a:t>Live market snapshot, graphs, and quick user-facing analytics.</a:t>
            </a:r>
          </a:p>
        </p:txBody>
      </p:sp>
      <p:pic>
        <p:nvPicPr>
          <p:cNvPr id="4" name="Picture 3" descr="hero_for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583680" cy="3703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635240" y="1691640"/>
            <a:ext cx="38404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4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82127" y="190195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C1A3A"/>
                </a:solidFill>
              </a:rPr>
              <a:t>Demo Walkthrough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45552" y="2240280"/>
            <a:ext cx="3154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29334D"/>
                </a:solidFill>
              </a:rPr>
              <a:t>User selects a currency pair.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9334D"/>
                </a:solidFill>
              </a:rPr>
              <a:t>Live price updates appear in the dashboard.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9334D"/>
                </a:solidFill>
              </a:rPr>
              <a:t>RSI and MACD charts help interpret momentum and trend.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9334D"/>
                </a:solidFill>
              </a:rPr>
              <a:t>Auth-enabled flow lets users access dashboard after login.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8758E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6217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C1A3A"/>
                </a:solidFill>
              </a:rPr>
              <a:t>8. Code Explanation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8758E"/>
                </a:solidFill>
              </a:rPr>
              <a:t>Recharts powers the dashboard visuals using reusable React components.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6400800" cy="4480560"/>
          </a:xfrm>
          <a:prstGeom prst="roundRect">
            <a:avLst/>
          </a:prstGeom>
          <a:solidFill>
            <a:srgbClr val="0C1A3A"/>
          </a:solidFill>
          <a:ln>
            <a:solidFill>
              <a:srgbClr val="0C1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965960"/>
            <a:ext cx="5897880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chemeClr val="bg1"/>
                </a:solidFill>
              </a:rPr>
              <a:t>&lt;</a:t>
            </a:r>
            <a:r>
              <a:rPr sz="1600" b="0" dirty="0" err="1">
                <a:solidFill>
                  <a:schemeClr val="bg1"/>
                </a:solidFill>
              </a:rPr>
              <a:t>ResponsiveContainer</a:t>
            </a:r>
            <a:r>
              <a:rPr sz="1600" b="0" dirty="0">
                <a:solidFill>
                  <a:schemeClr val="bg1"/>
                </a:solidFill>
              </a:rPr>
              <a:t> width="100%" height={280}&gt;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  &lt;</a:t>
            </a:r>
            <a:r>
              <a:rPr dirty="0" err="1">
                <a:solidFill>
                  <a:schemeClr val="bg1"/>
                </a:solidFill>
              </a:rPr>
              <a:t>LineChart</a:t>
            </a:r>
            <a:r>
              <a:rPr dirty="0">
                <a:solidFill>
                  <a:schemeClr val="bg1"/>
                </a:solidFill>
              </a:rPr>
              <a:t> data={</a:t>
            </a:r>
            <a:r>
              <a:rPr dirty="0" err="1">
                <a:solidFill>
                  <a:schemeClr val="bg1"/>
                </a:solidFill>
              </a:rPr>
              <a:t>chartData</a:t>
            </a:r>
            <a:r>
              <a:rPr dirty="0">
                <a:solidFill>
                  <a:schemeClr val="bg1"/>
                </a:solidFill>
              </a:rPr>
              <a:t>}&gt;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    &lt;</a:t>
            </a:r>
            <a:r>
              <a:rPr dirty="0" err="1">
                <a:solidFill>
                  <a:schemeClr val="bg1"/>
                </a:solidFill>
              </a:rPr>
              <a:t>CartesianGrid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strokeDasharray</a:t>
            </a:r>
            <a:r>
              <a:rPr dirty="0">
                <a:solidFill>
                  <a:schemeClr val="bg1"/>
                </a:solidFill>
              </a:rPr>
              <a:t>="3 3" /&gt;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    &lt;</a:t>
            </a:r>
            <a:r>
              <a:rPr dirty="0" err="1">
                <a:solidFill>
                  <a:schemeClr val="bg1"/>
                </a:solidFill>
              </a:rPr>
              <a:t>XAxis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dataKey</a:t>
            </a:r>
            <a:r>
              <a:rPr dirty="0">
                <a:solidFill>
                  <a:schemeClr val="bg1"/>
                </a:solidFill>
              </a:rPr>
              <a:t>="time" /&gt;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    &lt;</a:t>
            </a:r>
            <a:r>
              <a:rPr dirty="0" err="1">
                <a:solidFill>
                  <a:schemeClr val="bg1"/>
                </a:solidFill>
              </a:rPr>
              <a:t>YAxis</a:t>
            </a:r>
            <a:r>
              <a:rPr dirty="0">
                <a:solidFill>
                  <a:schemeClr val="bg1"/>
                </a:solidFill>
              </a:rPr>
              <a:t> /&gt;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    &lt;Tooltip /&gt;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    &lt;Legend /&gt;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    &lt;Line </a:t>
            </a:r>
            <a:r>
              <a:rPr dirty="0" err="1">
                <a:solidFill>
                  <a:schemeClr val="bg1"/>
                </a:solidFill>
              </a:rPr>
              <a:t>dataKey</a:t>
            </a:r>
            <a:r>
              <a:rPr dirty="0">
                <a:solidFill>
                  <a:schemeClr val="bg1"/>
                </a:solidFill>
              </a:rPr>
              <a:t>="price" stroke="#67a4ff" /&gt;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  &lt;/</a:t>
            </a:r>
            <a:r>
              <a:rPr dirty="0" err="1">
                <a:solidFill>
                  <a:schemeClr val="bg1"/>
                </a:solidFill>
              </a:rPr>
              <a:t>LineChart</a:t>
            </a:r>
            <a:r>
              <a:rPr dirty="0">
                <a:solidFill>
                  <a:schemeClr val="bg1"/>
                </a:solidFill>
              </a:rPr>
              <a:t>&gt;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&lt;/</a:t>
            </a:r>
            <a:r>
              <a:rPr dirty="0" err="1">
                <a:solidFill>
                  <a:schemeClr val="bg1"/>
                </a:solidFill>
              </a:rPr>
              <a:t>ResponsiveContainer</a:t>
            </a:r>
            <a:r>
              <a:rPr dirty="0">
                <a:solidFill>
                  <a:schemeClr val="bg1"/>
                </a:solidFill>
              </a:rPr>
              <a:t>&gt;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691640"/>
            <a:ext cx="4023360" cy="4480560"/>
          </a:xfrm>
          <a:prstGeom prst="roundRect">
            <a:avLst/>
          </a:prstGeom>
          <a:solidFill>
            <a:srgbClr val="F5F7FB"/>
          </a:solidFill>
          <a:ln>
            <a:solidFill>
              <a:srgbClr val="D4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54112" y="190195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C1A3A"/>
                </a:solidFill>
              </a:rPr>
              <a:t>Explanation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9248" y="2240280"/>
            <a:ext cx="3246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29334D"/>
                </a:solidFill>
              </a:rPr>
              <a:t>ResponsiveContainer makes the chart resize with the layout.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9334D"/>
                </a:solidFill>
              </a:rPr>
              <a:t>LineChart uses API response data directly from React state.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9334D"/>
                </a:solidFill>
              </a:rPr>
              <a:t>Tooltip and Legend improve readability during demo and analysis.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9334D"/>
                </a:solidFill>
              </a:rPr>
              <a:t>The same pattern is reused for RSI and MACD visual sections.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008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8758E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6217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0C1A3A"/>
                </a:solidFill>
              </a:rPr>
              <a:t>9. Sprint 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8758E"/>
                </a:solidFill>
              </a:rPr>
              <a:t>Three sprint phases guided the team from setup to analytics and final integration.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48840"/>
            <a:ext cx="3429000" cy="2560320"/>
          </a:xfrm>
          <a:prstGeom prst="roundRect">
            <a:avLst/>
          </a:prstGeom>
          <a:solidFill>
            <a:srgbClr val="ECF4FF"/>
          </a:solidFill>
          <a:ln>
            <a:solidFill>
              <a:srgbClr val="D4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05840" y="1993392"/>
            <a:ext cx="566928" cy="566928"/>
          </a:xfrm>
          <a:prstGeom prst="ellipse">
            <a:avLst/>
          </a:prstGeom>
          <a:solidFill>
            <a:srgbClr val="60A0FF"/>
          </a:solidFill>
          <a:ln>
            <a:solidFill>
              <a:srgbClr val="60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" y="2130552"/>
            <a:ext cx="1645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4688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C1A3A"/>
                </a:solidFill>
              </a:rPr>
              <a:t>Sprint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92608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9334D"/>
                </a:solidFill>
              </a:rPr>
              <a:t>Project setup, frontend base, layout, routing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2148840"/>
            <a:ext cx="3429000" cy="2560320"/>
          </a:xfrm>
          <a:prstGeom prst="roundRect">
            <a:avLst/>
          </a:prstGeom>
          <a:solidFill>
            <a:srgbClr val="ECF8F1"/>
          </a:solidFill>
          <a:ln>
            <a:solidFill>
              <a:srgbClr val="D4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754880" y="1993392"/>
            <a:ext cx="566928" cy="566928"/>
          </a:xfrm>
          <a:prstGeom prst="ellipse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73752" y="2130552"/>
            <a:ext cx="1645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3168" y="24688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C1A3A"/>
                </a:solidFill>
              </a:rPr>
              <a:t>Sprint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292608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9334D"/>
                </a:solidFill>
              </a:rPr>
              <a:t>Backend APIs, authentication, live data integration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2148840"/>
            <a:ext cx="3429000" cy="2560320"/>
          </a:xfrm>
          <a:prstGeom prst="roundRect">
            <a:avLst/>
          </a:prstGeom>
          <a:solidFill>
            <a:srgbClr val="FFF7E7"/>
          </a:solidFill>
          <a:ln>
            <a:solidFill>
              <a:srgbClr val="D4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503919" y="1993392"/>
            <a:ext cx="566928" cy="566928"/>
          </a:xfrm>
          <a:prstGeom prst="ellipse">
            <a:avLst/>
          </a:prstGeom>
          <a:solidFill>
            <a:srgbClr val="F0B53E"/>
          </a:solidFill>
          <a:ln>
            <a:solidFill>
              <a:srgbClr val="F0B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22792" y="2130552"/>
            <a:ext cx="1645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22208" y="24688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C1A3A"/>
                </a:solidFill>
              </a:rPr>
              <a:t>Sprint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22208" y="292608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9334D"/>
                </a:solidFill>
              </a:rPr>
              <a:t>Indicators, dashboard polish, bug fixes, presentation prep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" y="5074920"/>
            <a:ext cx="101498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34440" y="5303520"/>
            <a:ext cx="9692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29334D"/>
                </a:solidFill>
              </a:rPr>
              <a:t>Planning helped divide ownership clearly between frontend/dashboard work and backend/API/auth work.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008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8758E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6217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C1A3A"/>
                </a:solidFill>
              </a:rPr>
              <a:t>10. Sprint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8758E"/>
                </a:solidFill>
              </a:rPr>
              <a:t>Completed work, merged features, and remaining scope after final integration.</a:t>
            </a:r>
          </a:p>
        </p:txBody>
      </p:sp>
      <p:pic>
        <p:nvPicPr>
          <p:cNvPr id="4" name="Picture 3" descr="project_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00200"/>
            <a:ext cx="6400800" cy="360045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0" y="1645920"/>
            <a:ext cx="4160520" cy="4526280"/>
          </a:xfrm>
          <a:prstGeom prst="roundRect">
            <a:avLst/>
          </a:prstGeom>
          <a:solidFill>
            <a:srgbClr val="F5F7FB"/>
          </a:solidFill>
          <a:ln>
            <a:solidFill>
              <a:srgbClr val="D4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71231" y="1874519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C1A3A"/>
                </a:solidFill>
              </a:rPr>
              <a:t>Status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34656" y="2240280"/>
            <a:ext cx="333756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29334D"/>
                </a:solidFill>
              </a:rPr>
              <a:t>Completed: auth flows, live market integration, charts, dashboard pages, navigation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9334D"/>
                </a:solidFill>
              </a:rPr>
              <a:t>Validated: feature branches merged through PRs and review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9334D"/>
                </a:solidFill>
              </a:rPr>
              <a:t>Pending / future: production email credentials, deeper prediction logic, additional indicators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8758E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6217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C1A3A"/>
                </a:solidFill>
              </a:rPr>
              <a:t>11.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8758E"/>
                </a:solidFill>
              </a:rPr>
              <a:t>Technical and delivery hurdles encountered during the project.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102412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4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70432" y="2029968"/>
            <a:ext cx="9418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29334D"/>
                </a:solidFill>
              </a:rPr>
              <a:t>API connectivity and live-data consistency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788920"/>
            <a:ext cx="102412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4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70432" y="2990088"/>
            <a:ext cx="9418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29334D"/>
                </a:solidFill>
              </a:rPr>
              <a:t>Indicator calculations and dashboard synchronization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749039"/>
            <a:ext cx="102412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4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70432" y="3950207"/>
            <a:ext cx="9418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29334D"/>
                </a:solidFill>
              </a:rPr>
              <a:t>Authentication bugs and route handling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709159"/>
            <a:ext cx="102412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4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4910327"/>
            <a:ext cx="9418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29334D"/>
                </a:solidFill>
              </a:rPr>
              <a:t>Time management across frontend and backend streams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008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8758E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6217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C1A3A"/>
                </a:solidFill>
              </a:rPr>
              <a:t>12.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8758E"/>
                </a:solidFill>
              </a:rPr>
              <a:t>How the team resolved blockers and stabilized the final build.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828800"/>
            <a:ext cx="5120640" cy="1554480"/>
          </a:xfrm>
          <a:prstGeom prst="roundRect">
            <a:avLst/>
          </a:prstGeom>
          <a:solidFill>
            <a:srgbClr val="ECF8F1"/>
          </a:solidFill>
          <a:ln>
            <a:solidFill>
              <a:srgbClr val="D4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78408" y="1993392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C1A3A"/>
                </a:solidFill>
              </a:rPr>
              <a:t>Backend fixes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8" y="2359152"/>
            <a:ext cx="44805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9334D"/>
                </a:solidFill>
              </a:rPr>
              <a:t>Refined FastAPI routing, improved auth flow, and cleaned API integration issues.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828800"/>
            <a:ext cx="5120640" cy="1554480"/>
          </a:xfrm>
          <a:prstGeom prst="roundRect">
            <a:avLst/>
          </a:prstGeom>
          <a:solidFill>
            <a:srgbClr val="ECF4FF"/>
          </a:solidFill>
          <a:ln>
            <a:solidFill>
              <a:srgbClr val="D4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27648" y="1993392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C1A3A"/>
                </a:solidFill>
              </a:rPr>
              <a:t>Chart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7648" y="2359152"/>
            <a:ext cx="44805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9334D"/>
                </a:solidFill>
              </a:rPr>
              <a:t>Used structured payloads and Recharts components to simplify rendering logic.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86200"/>
            <a:ext cx="5120640" cy="1554480"/>
          </a:xfrm>
          <a:prstGeom prst="roundRect">
            <a:avLst/>
          </a:prstGeom>
          <a:solidFill>
            <a:srgbClr val="F6F1FF"/>
          </a:solidFill>
          <a:ln>
            <a:solidFill>
              <a:srgbClr val="D4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78408" y="4050791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C1A3A"/>
                </a:solidFill>
              </a:rPr>
              <a:t>Iteration via branches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4416552"/>
            <a:ext cx="44805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9334D"/>
                </a:solidFill>
              </a:rPr>
              <a:t>Separated work into feature branches and merged after validation.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886200"/>
            <a:ext cx="5120640" cy="1554480"/>
          </a:xfrm>
          <a:prstGeom prst="roundRect">
            <a:avLst/>
          </a:prstGeom>
          <a:solidFill>
            <a:srgbClr val="FFF7E7"/>
          </a:solidFill>
          <a:ln>
            <a:solidFill>
              <a:srgbClr val="D4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27648" y="4050791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C1A3A"/>
                </a:solidFill>
              </a:rPr>
              <a:t>Focused sprint reviews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4416552"/>
            <a:ext cx="44805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9334D"/>
                </a:solidFill>
              </a:rPr>
              <a:t>Used sprint checkpoints to identify bugs early and keep the scope realistic.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008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8758E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6217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C1A3A"/>
                </a:solidFill>
              </a:rPr>
              <a:t>13.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8758E"/>
                </a:solidFill>
              </a:rPr>
              <a:t>Planned enhancements after the current academic version.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5303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>
                <a:solidFill>
                  <a:srgbClr val="29334D"/>
                </a:solidFill>
              </a:rPr>
              <a:t>Add more technical indicators and stronger signal explanations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29334D"/>
                </a:solidFill>
              </a:rPr>
              <a:t>Improve prediction logic and confidence scoring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29334D"/>
                </a:solidFill>
              </a:rPr>
              <a:t>Introduce richer news sentiment and backtesting support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29334D"/>
                </a:solidFill>
              </a:rPr>
              <a:t>Move toward production-ready email delivery and deployment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29400" y="1828800"/>
            <a:ext cx="45720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4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903720" y="214884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C1A3A"/>
                </a:solidFill>
              </a:rPr>
              <a:t>Long-Term 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3720" y="2651760"/>
            <a:ext cx="3840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29334D"/>
                </a:solidFill>
              </a:rPr>
              <a:t>Evolve Trend-Fx from a learning-focused dashboard into a stronger decision-support platform with deeper analytics and more robust forecasting.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8758E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6217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C1A3A"/>
                </a:solidFill>
              </a:rPr>
              <a:t>14.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8758E"/>
                </a:solidFill>
              </a:rPr>
              <a:t>Trend-Fx demonstrates a complete full-stack solution to simplify forex learning and analysis.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10515600" cy="3474720"/>
          </a:xfrm>
          <a:prstGeom prst="roundRect">
            <a:avLst/>
          </a:prstGeom>
          <a:solidFill>
            <a:srgbClr val="F5F7FB"/>
          </a:solidFill>
          <a:ln>
            <a:solidFill>
              <a:srgbClr val="D4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2240280"/>
            <a:ext cx="98755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>
                <a:solidFill>
                  <a:srgbClr val="29334D"/>
                </a:solidFill>
              </a:rPr>
              <a:t>We identified a real usability problem in forex learning and built a focused dashboard solution.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29334D"/>
                </a:solidFill>
              </a:rPr>
              <a:t>The project integrates React UI, FastAPI services, authentication, database persistence, and live market data.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29334D"/>
                </a:solidFill>
              </a:rPr>
              <a:t>Sprint-based teamwork and repository workflow helped deliver the final result with clear ownership.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29334D"/>
                </a:solidFill>
              </a:rPr>
              <a:t>The platform now provides a strong academic foundation for future prediction improvements.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8758E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1828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70E2D0"/>
                </a:solidFill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749039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D6E2F6"/>
                </a:solidFill>
              </a:rPr>
              <a:t>Trend-Fx Final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8758E"/>
                </a:solidFill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957</Words>
  <Application>Microsoft Office PowerPoint</Application>
  <PresentationFormat>Widescreen</PresentationFormat>
  <Paragraphs>148</Paragraphs>
  <Slides>15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vignesh v</cp:lastModifiedBy>
  <cp:revision>3</cp:revision>
  <dcterms:created xsi:type="dcterms:W3CDTF">2013-01-27T09:14:16Z</dcterms:created>
  <dcterms:modified xsi:type="dcterms:W3CDTF">2026-04-21T16:11:27Z</dcterms:modified>
  <cp:category/>
</cp:coreProperties>
</file>